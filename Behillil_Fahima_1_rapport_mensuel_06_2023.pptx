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embeddedFontLst>
    <p:embeddedFont>
      <p:font typeface="Average" panose="020B0604020202020204" charset="0"/>
      <p:regular r:id="rId9"/>
    </p:embeddedFont>
    <p:embeddedFont>
      <p:font typeface="Calibri" panose="020F0502020204030204" pitchFamily="34" charset="0"/>
      <p:regular r:id="rId10"/>
      <p:bold r:id="rId11"/>
      <p:italic r:id="rId12"/>
      <p:boldItalic r:id="rId13"/>
    </p:embeddedFont>
    <p:embeddedFont>
      <p:font typeface="Comfortaa" panose="020B0604020202020204" charset="0"/>
      <p:regular r:id="rId14"/>
      <p:bold r:id="rId15"/>
    </p:embeddedFont>
    <p:embeddedFont>
      <p:font typeface="Comfortaa Light" panose="020B0604020202020204" charset="0"/>
      <p:regular r:id="rId16"/>
      <p:bold r:id="rId17"/>
    </p:embeddedFont>
    <p:embeddedFont>
      <p:font typeface="Comfortaa Medium" panose="020B0604020202020204" charset="0"/>
      <p:regular r:id="rId18"/>
      <p:bold r:id="rId19"/>
    </p:embeddedFont>
    <p:embeddedFont>
      <p:font typeface="Oswald" panose="00000500000000000000" pitchFamily="2" charset="0"/>
      <p:regular r:id="rId20"/>
      <p:bold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13.fntdata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viewProps" Target="viewProps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c6f980f9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c6f980f9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c6f980f91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c6f980f91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6f980f91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c6f980f91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50cd0a3b85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250cd0a3b85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50cd0a3b85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50cd0a3b85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c6f980f91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c6f980f91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2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" name="Google Shape;42;p9"/>
          <p:cNvSpPr txBox="1">
            <a:spLocks noGrp="1"/>
          </p:cNvSpPr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subTitle" idx="1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>
            <a:spLocks noGrp="1"/>
          </p:cNvSpPr>
          <p:nvPr>
            <p:ph type="body" idx="1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lat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5818E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>
            <a:spLocks noGrp="1"/>
          </p:cNvSpPr>
          <p:nvPr>
            <p:ph type="subTitle" idx="1"/>
          </p:nvPr>
        </p:nvSpPr>
        <p:spPr>
          <a:xfrm>
            <a:off x="595900" y="3636976"/>
            <a:ext cx="7801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Comfortaa Medium"/>
                <a:ea typeface="Comfortaa Medium"/>
                <a:cs typeface="Comfortaa Medium"/>
                <a:sym typeface="Comfortaa Medium"/>
              </a:rPr>
              <a:t>Comment évoluera notre Chiffres d’affaires?</a:t>
            </a:r>
            <a:endParaRPr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700"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700"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700"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700"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700"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700"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700"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700"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latin typeface="Comfortaa Medium"/>
                <a:ea typeface="Comfortaa Medium"/>
                <a:cs typeface="Comfortaa Medium"/>
                <a:sym typeface="Comfortaa Medium"/>
              </a:rPr>
              <a:t>sources DATA LGM</a:t>
            </a:r>
            <a:endParaRPr sz="700"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  <p:pic>
        <p:nvPicPr>
          <p:cNvPr id="60" name="Google Shape;60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5425" y="428650"/>
            <a:ext cx="7657315" cy="287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5818E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>
            <a:spLocks noGrp="1"/>
          </p:cNvSpPr>
          <p:nvPr>
            <p:ph type="body" idx="1"/>
          </p:nvPr>
        </p:nvSpPr>
        <p:spPr>
          <a:xfrm>
            <a:off x="311700" y="190825"/>
            <a:ext cx="8520600" cy="52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fr" sz="1900">
                <a:solidFill>
                  <a:schemeClr val="dk1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Segment nourriture ⅔ de nos ventes</a:t>
            </a:r>
            <a:endParaRPr sz="1900">
              <a:solidFill>
                <a:schemeClr val="dk1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  <p:pic>
        <p:nvPicPr>
          <p:cNvPr id="66" name="Google Shape;6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6050" y="872825"/>
            <a:ext cx="4773400" cy="4096824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4"/>
          <p:cNvSpPr txBox="1"/>
          <p:nvPr/>
        </p:nvSpPr>
        <p:spPr>
          <a:xfrm>
            <a:off x="5528675" y="1508000"/>
            <a:ext cx="3135000" cy="22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mfortaa Light"/>
              <a:buChar char="●"/>
            </a:pPr>
            <a:r>
              <a:rPr lang="fr" sz="1200" dirty="0">
                <a:solidFill>
                  <a:srgbClr val="FFFFFF"/>
                </a:solidFill>
                <a:latin typeface="Comfortaa Light"/>
                <a:ea typeface="Comfortaa Light"/>
                <a:cs typeface="Comfortaa Light"/>
                <a:sym typeface="Comfortaa Light"/>
              </a:rPr>
              <a:t>baisse </a:t>
            </a:r>
            <a:r>
              <a:rPr lang="fr" sz="1200" dirty="0">
                <a:solidFill>
                  <a:schemeClr val="dk1"/>
                </a:solidFill>
                <a:latin typeface="Comfortaa Light"/>
                <a:ea typeface="Comfortaa Light"/>
                <a:cs typeface="Comfortaa Light"/>
                <a:sym typeface="Comfortaa Light"/>
              </a:rPr>
              <a:t>globale</a:t>
            </a:r>
            <a:r>
              <a:rPr lang="fr" sz="1200" dirty="0">
                <a:solidFill>
                  <a:srgbClr val="FFFFFF"/>
                </a:solidFill>
                <a:latin typeface="Comfortaa Light"/>
                <a:ea typeface="Comfortaa Light"/>
                <a:cs typeface="Comfortaa Light"/>
                <a:sym typeface="Comfortaa Light"/>
              </a:rPr>
              <a:t> des ventes 5.8% dû arrêt de la tech.</a:t>
            </a:r>
            <a:endParaRPr sz="1200" dirty="0">
              <a:solidFill>
                <a:srgbClr val="FFFFFF"/>
              </a:solidFill>
              <a:latin typeface="Comfortaa Light"/>
              <a:ea typeface="Comfortaa Light"/>
              <a:cs typeface="Comfortaa Light"/>
              <a:sym typeface="Comfortaa Light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rgbClr val="FFFFFF"/>
              </a:solidFill>
              <a:latin typeface="Comfortaa Light"/>
              <a:ea typeface="Comfortaa Light"/>
              <a:cs typeface="Comfortaa Light"/>
              <a:sym typeface="Comfortaa Light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mfortaa Light"/>
              <a:buChar char="●"/>
            </a:pPr>
            <a:r>
              <a:rPr lang="fr" sz="1200" dirty="0">
                <a:solidFill>
                  <a:srgbClr val="FFFFFF"/>
                </a:solidFill>
                <a:latin typeface="Comfortaa Light"/>
                <a:ea typeface="Comfortaa Light"/>
                <a:cs typeface="Comfortaa Light"/>
                <a:sym typeface="Comfortaa Light"/>
              </a:rPr>
              <a:t>le segment nourriture (né y a 8 mois) progression record avec 470k€ de CA soit 26% de croissance M-1.</a:t>
            </a:r>
            <a:endParaRPr sz="1200" dirty="0">
              <a:solidFill>
                <a:srgbClr val="FFFFFF"/>
              </a:solidFill>
              <a:latin typeface="Comfortaa Light"/>
              <a:ea typeface="Comfortaa Light"/>
              <a:cs typeface="Comfortaa Light"/>
              <a:sym typeface="Comfortaa Light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rgbClr val="FFFFFF"/>
              </a:solidFill>
              <a:latin typeface="Comfortaa Light"/>
              <a:ea typeface="Comfortaa Light"/>
              <a:cs typeface="Comfortaa Light"/>
              <a:sym typeface="Comfortaa Light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mfortaa Light"/>
              <a:buChar char="●"/>
            </a:pPr>
            <a:r>
              <a:rPr lang="fr" sz="1200" dirty="0">
                <a:solidFill>
                  <a:srgbClr val="FFFFFF"/>
                </a:solidFill>
                <a:latin typeface="Comfortaa Light"/>
                <a:ea typeface="Comfortaa Light"/>
                <a:cs typeface="Comfortaa Light"/>
                <a:sym typeface="Comfortaa Light"/>
              </a:rPr>
              <a:t>segment bien de conso. stable moy mensuelle 200k€.</a:t>
            </a:r>
            <a:endParaRPr sz="1200" dirty="0">
              <a:solidFill>
                <a:srgbClr val="FFFFFF"/>
              </a:solidFill>
              <a:latin typeface="Comfortaa Light"/>
              <a:ea typeface="Comfortaa Light"/>
              <a:cs typeface="Comfortaa Light"/>
              <a:sym typeface="Comfortaa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rgbClr val="FFFFFF"/>
              </a:solidFill>
              <a:latin typeface="Comfortaa Light"/>
              <a:ea typeface="Comfortaa Light"/>
              <a:cs typeface="Comfortaa Light"/>
              <a:sym typeface="Comfortaa Ligh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5818E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>
            <a:spLocks noGrp="1"/>
          </p:cNvSpPr>
          <p:nvPr>
            <p:ph type="title"/>
          </p:nvPr>
        </p:nvSpPr>
        <p:spPr>
          <a:xfrm>
            <a:off x="183850" y="147275"/>
            <a:ext cx="4321500" cy="163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Comfortaa Medium"/>
                <a:ea typeface="Comfortaa Medium"/>
                <a:cs typeface="Comfortaa Medium"/>
                <a:sym typeface="Comfortaa Medium"/>
              </a:rPr>
              <a:t>Montant des achats de nos clients</a:t>
            </a:r>
            <a:endParaRPr sz="1900"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597850" y="1755950"/>
            <a:ext cx="3135000" cy="24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mfortaa Light"/>
              <a:buChar char="●"/>
            </a:pPr>
            <a:r>
              <a:rPr lang="fr" sz="1100">
                <a:solidFill>
                  <a:schemeClr val="dk1"/>
                </a:solidFill>
                <a:latin typeface="Comfortaa Light"/>
                <a:ea typeface="Comfortaa Light"/>
                <a:cs typeface="Comfortaa Light"/>
                <a:sym typeface="Comfortaa Light"/>
              </a:rPr>
              <a:t>densité : palier prix panier 37 et 42€.</a:t>
            </a:r>
            <a:endParaRPr sz="1100">
              <a:solidFill>
                <a:schemeClr val="dk1"/>
              </a:solidFill>
              <a:latin typeface="Comfortaa Light"/>
              <a:ea typeface="Comfortaa Light"/>
              <a:cs typeface="Comfortaa Light"/>
              <a:sym typeface="Comfortaa Light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Comfortaa Light"/>
              <a:ea typeface="Comfortaa Light"/>
              <a:cs typeface="Comfortaa Light"/>
              <a:sym typeface="Comfortaa Light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mfortaa Light"/>
              <a:buChar char="●"/>
            </a:pPr>
            <a:r>
              <a:rPr lang="fr" sz="1100">
                <a:solidFill>
                  <a:schemeClr val="dk1"/>
                </a:solidFill>
                <a:latin typeface="Comfortaa Light"/>
                <a:ea typeface="Comfortaa Light"/>
                <a:cs typeface="Comfortaa Light"/>
                <a:sym typeface="Comfortaa Light"/>
              </a:rPr>
              <a:t>entre 4 et 10 minutes pour acheter </a:t>
            </a:r>
            <a:endParaRPr sz="1100">
              <a:solidFill>
                <a:schemeClr val="dk1"/>
              </a:solidFill>
              <a:latin typeface="Comfortaa Light"/>
              <a:ea typeface="Comfortaa Light"/>
              <a:cs typeface="Comfortaa Light"/>
              <a:sym typeface="Comfortaa Light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Comfortaa Light"/>
              <a:ea typeface="Comfortaa Light"/>
              <a:cs typeface="Comfortaa Light"/>
              <a:sym typeface="Comfortaa Light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mfortaa Light"/>
              <a:buChar char="●"/>
            </a:pPr>
            <a:r>
              <a:rPr lang="fr" sz="1100">
                <a:solidFill>
                  <a:schemeClr val="dk1"/>
                </a:solidFill>
                <a:latin typeface="Comfortaa Light"/>
                <a:ea typeface="Comfortaa Light"/>
                <a:cs typeface="Comfortaa Light"/>
                <a:sym typeface="Comfortaa Light"/>
              </a:rPr>
              <a:t>+ le temps de connexion augmente +le prix du panier  augmente </a:t>
            </a:r>
            <a:endParaRPr sz="1100">
              <a:solidFill>
                <a:schemeClr val="dk1"/>
              </a:solidFill>
              <a:latin typeface="Comfortaa Light"/>
              <a:ea typeface="Comfortaa Light"/>
              <a:cs typeface="Comfortaa Light"/>
              <a:sym typeface="Comfortaa Light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Comfortaa Light"/>
              <a:ea typeface="Comfortaa Light"/>
              <a:cs typeface="Comfortaa Light"/>
              <a:sym typeface="Comfortaa Light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mfortaa Light"/>
              <a:buChar char="●"/>
            </a:pPr>
            <a:r>
              <a:rPr lang="fr" sz="1100">
                <a:solidFill>
                  <a:schemeClr val="dk1"/>
                </a:solidFill>
                <a:latin typeface="Comfortaa Light"/>
                <a:ea typeface="Comfortaa Light"/>
                <a:cs typeface="Comfortaa Light"/>
                <a:sym typeface="Comfortaa Light"/>
              </a:rPr>
              <a:t>forte corrélation positive</a:t>
            </a:r>
            <a:endParaRPr sz="1100">
              <a:solidFill>
                <a:schemeClr val="dk1"/>
              </a:solidFill>
              <a:latin typeface="Comfortaa Light"/>
              <a:ea typeface="Comfortaa Light"/>
              <a:cs typeface="Comfortaa Light"/>
              <a:sym typeface="Comfortaa Light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Comfortaa Light"/>
              <a:ea typeface="Comfortaa Light"/>
              <a:cs typeface="Comfortaa Light"/>
              <a:sym typeface="Comfortaa Light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Comfortaa Light"/>
              <a:ea typeface="Comfortaa Light"/>
              <a:cs typeface="Comfortaa Light"/>
              <a:sym typeface="Comfortaa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omfortaa Light"/>
              <a:ea typeface="Comfortaa Light"/>
              <a:cs typeface="Comfortaa Light"/>
              <a:sym typeface="Comfortaa Light"/>
            </a:endParaRPr>
          </a:p>
        </p:txBody>
      </p:sp>
      <p:pic>
        <p:nvPicPr>
          <p:cNvPr id="74" name="Google Shape;7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0"/>
            <a:ext cx="4527174" cy="506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5818E"/>
        </a:solidFill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172200" cy="48006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6"/>
          <p:cNvSpPr txBox="1"/>
          <p:nvPr/>
        </p:nvSpPr>
        <p:spPr>
          <a:xfrm>
            <a:off x="6553275" y="1072550"/>
            <a:ext cx="2511600" cy="26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Average"/>
              <a:ea typeface="Average"/>
              <a:cs typeface="Average"/>
              <a:sym typeface="Average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mfortaa Light"/>
              <a:buChar char="●"/>
            </a:pPr>
            <a:r>
              <a:rPr lang="fr" sz="1200" dirty="0">
                <a:solidFill>
                  <a:schemeClr val="dk1"/>
                </a:solidFill>
                <a:latin typeface="Comfortaa Light"/>
                <a:ea typeface="Comfortaa Light"/>
                <a:cs typeface="Comfortaa Light"/>
                <a:sym typeface="Comfortaa Light"/>
              </a:rPr>
              <a:t>Février variabilité plus importante 6 minutes d’intervalle d’achat.</a:t>
            </a:r>
            <a:endParaRPr sz="1200" dirty="0">
              <a:solidFill>
                <a:schemeClr val="dk1"/>
              </a:solidFill>
              <a:latin typeface="Comfortaa Light"/>
              <a:ea typeface="Comfortaa Light"/>
              <a:cs typeface="Comfortaa Light"/>
              <a:sym typeface="Comfortaa Light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Comfortaa Light"/>
              <a:ea typeface="Comfortaa Light"/>
              <a:cs typeface="Comfortaa Light"/>
              <a:sym typeface="Comfortaa Light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mfortaa Light"/>
              <a:buChar char="●"/>
            </a:pPr>
            <a:r>
              <a:rPr lang="fr" sz="1200" dirty="0">
                <a:solidFill>
                  <a:schemeClr val="dk1"/>
                </a:solidFill>
                <a:latin typeface="Comfortaa Light"/>
                <a:ea typeface="Comfortaa Light"/>
                <a:cs typeface="Comfortaa Light"/>
                <a:sym typeface="Comfortaa Light"/>
              </a:rPr>
              <a:t>1er percentile 4 min dernier percentile 10 min  différence comportementale.</a:t>
            </a:r>
            <a:endParaRPr sz="1200" dirty="0">
              <a:solidFill>
                <a:schemeClr val="dk1"/>
              </a:solidFill>
              <a:latin typeface="Comfortaa Light"/>
              <a:ea typeface="Comfortaa Light"/>
              <a:cs typeface="Comfortaa Light"/>
              <a:sym typeface="Comfortaa Light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Comfortaa Light"/>
              <a:ea typeface="Comfortaa Light"/>
              <a:cs typeface="Comfortaa Light"/>
              <a:sym typeface="Comfortaa Light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mfortaa Light"/>
              <a:buChar char="●"/>
            </a:pPr>
            <a:r>
              <a:rPr lang="fr" sz="1200" dirty="0">
                <a:solidFill>
                  <a:schemeClr val="dk1"/>
                </a:solidFill>
                <a:latin typeface="Comfortaa Light"/>
                <a:ea typeface="Comfortaa Light"/>
                <a:cs typeface="Comfortaa Light"/>
                <a:sym typeface="Comfortaa Light"/>
              </a:rPr>
              <a:t>50% des sessions ont duré 6 minutes. </a:t>
            </a:r>
            <a:endParaRPr sz="1200" dirty="0">
              <a:solidFill>
                <a:schemeClr val="dk1"/>
              </a:solidFill>
              <a:latin typeface="Comfortaa Light"/>
              <a:ea typeface="Comfortaa Light"/>
              <a:cs typeface="Comfortaa Light"/>
              <a:sym typeface="Comfortaa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Comfortaa Light"/>
              <a:ea typeface="Comfortaa Light"/>
              <a:cs typeface="Comfortaa Light"/>
              <a:sym typeface="Comfortaa Light"/>
            </a:endParaRPr>
          </a:p>
        </p:txBody>
      </p:sp>
      <p:sp>
        <p:nvSpPr>
          <p:cNvPr id="81" name="Google Shape;81;p16"/>
          <p:cNvSpPr txBox="1"/>
          <p:nvPr/>
        </p:nvSpPr>
        <p:spPr>
          <a:xfrm>
            <a:off x="6448475" y="261575"/>
            <a:ext cx="2712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Variabilité du temps passé sur site </a:t>
            </a:r>
            <a:endParaRPr>
              <a:solidFill>
                <a:schemeClr val="dk1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5818E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575975"/>
            <a:ext cx="4994450" cy="437702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7"/>
          <p:cNvSpPr txBox="1"/>
          <p:nvPr/>
        </p:nvSpPr>
        <p:spPr>
          <a:xfrm>
            <a:off x="5297850" y="3544850"/>
            <a:ext cx="36738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Average"/>
              <a:ea typeface="Average"/>
              <a:cs typeface="Average"/>
              <a:sym typeface="Averag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Average"/>
              <a:ea typeface="Average"/>
              <a:cs typeface="Average"/>
              <a:sym typeface="Averag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Average"/>
              <a:ea typeface="Average"/>
              <a:cs typeface="Average"/>
              <a:sym typeface="Averag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88" name="Google Shape;88;p17"/>
          <p:cNvSpPr txBox="1"/>
          <p:nvPr/>
        </p:nvSpPr>
        <p:spPr>
          <a:xfrm>
            <a:off x="5479050" y="863725"/>
            <a:ext cx="3352800" cy="3062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mfortaa Light"/>
              <a:buChar char="●"/>
            </a:pPr>
            <a:r>
              <a:rPr lang="fr" sz="1100" dirty="0">
                <a:solidFill>
                  <a:schemeClr val="dk1"/>
                </a:solidFill>
                <a:latin typeface="Comfortaa Light"/>
                <a:ea typeface="Comfortaa Light"/>
                <a:cs typeface="Comfortaa Light"/>
                <a:sym typeface="Comfortaa Light"/>
              </a:rPr>
              <a:t>Croissance limitée des ventes malgré hausse des visites </a:t>
            </a:r>
            <a:endParaRPr sz="1100" dirty="0">
              <a:solidFill>
                <a:schemeClr val="dk1"/>
              </a:solidFill>
              <a:latin typeface="Comfortaa Light"/>
              <a:ea typeface="Comfortaa Light"/>
              <a:cs typeface="Comfortaa Light"/>
              <a:sym typeface="Comfortaa Light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chemeClr val="dk1"/>
              </a:solidFill>
              <a:latin typeface="Comfortaa Light"/>
              <a:ea typeface="Comfortaa Light"/>
              <a:cs typeface="Comfortaa Light"/>
              <a:sym typeface="Comfortaa Light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mfortaa Light"/>
              <a:buChar char="●"/>
            </a:pPr>
            <a:r>
              <a:rPr lang="fr" sz="1100" dirty="0">
                <a:solidFill>
                  <a:schemeClr val="dk1"/>
                </a:solidFill>
                <a:latin typeface="Comfortaa Light"/>
                <a:ea typeface="Comfortaa Light"/>
                <a:cs typeface="Comfortaa Light"/>
                <a:sym typeface="Comfortaa Light"/>
              </a:rPr>
              <a:t>Taux de conversion trop faible 0.05</a:t>
            </a:r>
          </a:p>
          <a:p>
            <a:pPr marL="15875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endParaRPr lang="fr" sz="1100" dirty="0">
              <a:solidFill>
                <a:schemeClr val="dk1"/>
              </a:solidFill>
              <a:latin typeface="Comfortaa Light"/>
              <a:ea typeface="Comfortaa Light"/>
              <a:cs typeface="Comfortaa Light"/>
              <a:sym typeface="Comfortaa Light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mfortaa Light"/>
              <a:buChar char="●"/>
            </a:pPr>
            <a:r>
              <a:rPr lang="fr" sz="1100" dirty="0">
                <a:solidFill>
                  <a:schemeClr val="dk1"/>
                </a:solidFill>
                <a:latin typeface="Comfortaa Light"/>
                <a:ea typeface="Comfortaa Light"/>
                <a:cs typeface="Comfortaa Light"/>
                <a:sym typeface="Comfortaa Light"/>
              </a:rPr>
              <a:t>Reintegrer l’high tech</a:t>
            </a:r>
            <a:endParaRPr sz="1100" dirty="0">
              <a:solidFill>
                <a:schemeClr val="dk1"/>
              </a:solidFill>
              <a:latin typeface="Comfortaa Light"/>
              <a:ea typeface="Comfortaa Light"/>
              <a:cs typeface="Comfortaa Light"/>
              <a:sym typeface="Comfortaa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chemeClr val="dk1"/>
              </a:solidFill>
              <a:latin typeface="Comfortaa Light"/>
              <a:ea typeface="Comfortaa Light"/>
              <a:cs typeface="Comfortaa Light"/>
              <a:sym typeface="Comfortaa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chemeClr val="dk1"/>
              </a:solidFill>
              <a:latin typeface="Comfortaa Light"/>
              <a:ea typeface="Comfortaa Light"/>
              <a:cs typeface="Comfortaa Light"/>
              <a:sym typeface="Comfortaa Light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mfortaa Light"/>
              <a:buChar char="●"/>
            </a:pPr>
            <a:endParaRPr lang="fr" sz="1100" dirty="0">
              <a:solidFill>
                <a:schemeClr val="dk1"/>
              </a:solidFill>
              <a:latin typeface="Comfortaa Light"/>
              <a:ea typeface="Comfortaa Light"/>
              <a:cs typeface="Comfortaa Light"/>
              <a:sym typeface="Comfortaa Light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mfortaa Light"/>
              <a:buChar char="●"/>
            </a:pPr>
            <a:r>
              <a:rPr lang="fr" sz="1100" dirty="0">
                <a:solidFill>
                  <a:schemeClr val="dk1"/>
                </a:solidFill>
                <a:latin typeface="Comfortaa Light"/>
                <a:ea typeface="Comfortaa Light"/>
                <a:cs typeface="Comfortaa Light"/>
                <a:sym typeface="Comfortaa Light"/>
              </a:rPr>
              <a:t>publicité stratégie marketing pour convertir ( révision de l'expérience utilisateur )</a:t>
            </a:r>
            <a:endParaRPr sz="1100" dirty="0">
              <a:solidFill>
                <a:schemeClr val="dk1"/>
              </a:solidFill>
              <a:latin typeface="Comfortaa Light"/>
              <a:ea typeface="Comfortaa Light"/>
              <a:cs typeface="Comfortaa Light"/>
              <a:sym typeface="Comfortaa Light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chemeClr val="dk1"/>
              </a:solidFill>
              <a:latin typeface="Comfortaa Light"/>
              <a:ea typeface="Comfortaa Light"/>
              <a:cs typeface="Comfortaa Light"/>
              <a:sym typeface="Comfortaa Light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mfortaa Light"/>
              <a:buChar char="●"/>
            </a:pPr>
            <a:r>
              <a:rPr lang="fr" sz="1100" dirty="0">
                <a:solidFill>
                  <a:schemeClr val="dk1"/>
                </a:solidFill>
                <a:latin typeface="Comfortaa Light"/>
                <a:ea typeface="Comfortaa Light"/>
                <a:cs typeface="Comfortaa Light"/>
                <a:sym typeface="Comfortaa Light"/>
              </a:rPr>
              <a:t>publicité personnalisation des offres paniers pour le segment nourriture</a:t>
            </a:r>
            <a:endParaRPr sz="1100" dirty="0">
              <a:solidFill>
                <a:schemeClr val="dk1"/>
              </a:solidFill>
              <a:latin typeface="Comfortaa Light"/>
              <a:ea typeface="Comfortaa Light"/>
              <a:cs typeface="Comfortaa Light"/>
              <a:sym typeface="Comfortaa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latin typeface="Comfortaa Light"/>
              <a:ea typeface="Comfortaa Light"/>
              <a:cs typeface="Comfortaa Light"/>
              <a:sym typeface="Comfortaa Light"/>
            </a:endParaRPr>
          </a:p>
        </p:txBody>
      </p:sp>
      <p:sp>
        <p:nvSpPr>
          <p:cNvPr id="89" name="Google Shape;89;p17"/>
          <p:cNvSpPr txBox="1"/>
          <p:nvPr/>
        </p:nvSpPr>
        <p:spPr>
          <a:xfrm>
            <a:off x="465450" y="150675"/>
            <a:ext cx="4495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La multiplication des visites sur notre site</a:t>
            </a:r>
            <a:endParaRPr>
              <a:solidFill>
                <a:schemeClr val="dk1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5818E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>
            <a:spLocks noGrp="1"/>
          </p:cNvSpPr>
          <p:nvPr>
            <p:ph type="title"/>
          </p:nvPr>
        </p:nvSpPr>
        <p:spPr>
          <a:xfrm>
            <a:off x="3986550" y="163750"/>
            <a:ext cx="4641600" cy="54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latin typeface="Comfortaa Medium"/>
                <a:ea typeface="Comfortaa Medium"/>
                <a:cs typeface="Comfortaa Medium"/>
                <a:sym typeface="Comfortaa Medium"/>
              </a:rPr>
              <a:t>La tendance de notre CA</a:t>
            </a:r>
            <a:endParaRPr sz="1600"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  <p:pic>
        <p:nvPicPr>
          <p:cNvPr id="95" name="Google Shape;95;p18"/>
          <p:cNvPicPr preferRelativeResize="0"/>
          <p:nvPr/>
        </p:nvPicPr>
        <p:blipFill rotWithShape="1">
          <a:blip r:embed="rId3">
            <a:alphaModFix/>
          </a:blip>
          <a:srcRect l="780" t="5560" r="-779" b="-5559"/>
          <a:stretch/>
        </p:blipFill>
        <p:spPr>
          <a:xfrm>
            <a:off x="3166300" y="771850"/>
            <a:ext cx="5491601" cy="434485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8"/>
          <p:cNvSpPr txBox="1"/>
          <p:nvPr/>
        </p:nvSpPr>
        <p:spPr>
          <a:xfrm>
            <a:off x="201175" y="1199475"/>
            <a:ext cx="2740500" cy="31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mfortaa"/>
              <a:buChar char="●"/>
            </a:pPr>
            <a:r>
              <a:rPr lang="fr" sz="12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tendance initiale croissante</a:t>
            </a:r>
            <a:endParaRPr sz="12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mfortaa"/>
              <a:buChar char="●"/>
            </a:pPr>
            <a:r>
              <a:rPr lang="fr" sz="12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point de convergence février équilibre entre CA généré par chaque ventes</a:t>
            </a:r>
            <a:endParaRPr sz="12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mfortaa"/>
              <a:buChar char="●"/>
            </a:pPr>
            <a:r>
              <a:rPr lang="fr" sz="12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CA commence à diminuer, mais les ventes continuent de progresser</a:t>
            </a:r>
            <a:endParaRPr sz="12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mfortaa"/>
              <a:buChar char="●"/>
            </a:pPr>
            <a:r>
              <a:rPr lang="fr" sz="12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la CA va progresser dans les prochains mois </a:t>
            </a:r>
            <a:endParaRPr sz="12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Comfortaa"/>
              <a:ea typeface="Comfortaa"/>
              <a:cs typeface="Comfortaa"/>
              <a:sym typeface="Comforta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Comfortaa"/>
              <a:ea typeface="Comfortaa"/>
              <a:cs typeface="Comfortaa"/>
              <a:sym typeface="Comforta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217</Words>
  <Application>Microsoft Office PowerPoint</Application>
  <PresentationFormat>Affichage à l'écran (16:9)</PresentationFormat>
  <Paragraphs>56</Paragraphs>
  <Slides>6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4" baseType="lpstr">
      <vt:lpstr>Comfortaa Medium</vt:lpstr>
      <vt:lpstr>Oswald</vt:lpstr>
      <vt:lpstr>Average</vt:lpstr>
      <vt:lpstr>Calibri</vt:lpstr>
      <vt:lpstr>Arial</vt:lpstr>
      <vt:lpstr>Comfortaa</vt:lpstr>
      <vt:lpstr>Comfortaa Light</vt:lpstr>
      <vt:lpstr>Slate</vt:lpstr>
      <vt:lpstr>Présentation PowerPoint</vt:lpstr>
      <vt:lpstr>Présentation PowerPoint</vt:lpstr>
      <vt:lpstr>Montant des achats de nos clients</vt:lpstr>
      <vt:lpstr>Présentation PowerPoint</vt:lpstr>
      <vt:lpstr>Présentation PowerPoint</vt:lpstr>
      <vt:lpstr>La tendance de notre CA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fahima</dc:creator>
  <cp:lastModifiedBy>Fahima</cp:lastModifiedBy>
  <cp:revision>1</cp:revision>
  <dcterms:modified xsi:type="dcterms:W3CDTF">2023-08-03T09:31:31Z</dcterms:modified>
</cp:coreProperties>
</file>